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35" autoAdjust="0"/>
    <p:restoredTop sz="94660"/>
  </p:normalViewPr>
  <p:slideViewPr>
    <p:cSldViewPr snapToGrid="0" snapToObjects="1">
      <p:cViewPr varScale="1">
        <p:scale>
          <a:sx n="114" d="100"/>
          <a:sy n="114" d="100"/>
        </p:scale>
        <p:origin x="1506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4334933" y="1169931"/>
            <a:ext cx="4814835" cy="4993802"/>
            <a:chOff x="4334933" y="1169931"/>
            <a:chExt cx="4814835" cy="4993802"/>
          </a:xfrm>
        </p:grpSpPr>
        <p:cxnSp>
          <p:nvCxnSpPr>
            <p:cNvPr id="17" name="Straight Connector 16"/>
            <p:cNvCxnSpPr/>
            <p:nvPr/>
          </p:nvCxnSpPr>
          <p:spPr>
            <a:xfrm flipH="1">
              <a:off x="6009259" y="1169931"/>
              <a:ext cx="3134741" cy="313474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H="1">
              <a:off x="4334933" y="1348898"/>
              <a:ext cx="4814835" cy="481483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5225595" y="1469269"/>
              <a:ext cx="3912054" cy="391205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 flipH="1">
              <a:off x="5304588" y="1307856"/>
              <a:ext cx="3839412" cy="3839412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 flipH="1">
              <a:off x="5707078" y="1770196"/>
              <a:ext cx="3430571" cy="343057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3400" y="533400"/>
            <a:ext cx="6154713" cy="3124201"/>
          </a:xfrm>
        </p:spPr>
        <p:txBody>
          <a:bodyPr anchor="b">
            <a:normAutofit/>
          </a:bodyPr>
          <a:lstStyle>
            <a:lvl1pPr algn="l">
              <a:defRPr sz="44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3400" y="3843868"/>
            <a:ext cx="4954250" cy="1913466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2893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533400"/>
            <a:ext cx="6554867" cy="3767670"/>
          </a:xfrm>
        </p:spPr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699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1981199"/>
            <a:ext cx="6402468" cy="2319867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487333"/>
            <a:ext cx="6402467" cy="1532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531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Content Placeholder 3"/>
          <p:cNvSpPr>
            <a:spLocks noGrp="1"/>
          </p:cNvSpPr>
          <p:nvPr>
            <p:ph sz="half" idx="13"/>
          </p:nvPr>
        </p:nvSpPr>
        <p:spPr>
          <a:xfrm>
            <a:off x="533400" y="533400"/>
            <a:ext cx="3949967" cy="3767667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2" name="Content Placeholder 5"/>
          <p:cNvSpPr>
            <a:spLocks noGrp="1"/>
          </p:cNvSpPr>
          <p:nvPr>
            <p:ph sz="quarter" idx="4"/>
          </p:nvPr>
        </p:nvSpPr>
        <p:spPr>
          <a:xfrm>
            <a:off x="4662362" y="533400"/>
            <a:ext cx="3948238" cy="37592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8576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1" y="533400"/>
            <a:ext cx="3716866" cy="609600"/>
          </a:xfrm>
        </p:spPr>
        <p:txBody>
          <a:bodyPr anchor="b">
            <a:noAutofit/>
          </a:bodyPr>
          <a:lstStyle>
            <a:lvl1pPr marL="0" indent="0">
              <a:buNone/>
              <a:defRPr sz="2400" b="0" cap="all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399" y="1143000"/>
            <a:ext cx="3945467" cy="3158067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5016" y="566738"/>
            <a:ext cx="376405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 cap="all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2362" y="1143000"/>
            <a:ext cx="3956705" cy="3149600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0208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1637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9469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8667" y="533400"/>
            <a:ext cx="3200400" cy="1524000"/>
          </a:xfrm>
        </p:spPr>
        <p:txBody>
          <a:bodyPr anchor="b">
            <a:normAutofit/>
          </a:bodyPr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399" y="533400"/>
            <a:ext cx="4438755" cy="54864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18667" y="2209802"/>
            <a:ext cx="32004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726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95800" y="1447800"/>
            <a:ext cx="3563258" cy="11430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762000" y="914400"/>
            <a:ext cx="3280974" cy="48006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96027" y="2743200"/>
            <a:ext cx="3564223" cy="2082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33400" y="6172200"/>
            <a:ext cx="581172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7925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6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533400" y="533400"/>
            <a:ext cx="8077200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762002" y="3843867"/>
            <a:ext cx="7281332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2987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533400"/>
            <a:ext cx="8077200" cy="2895600"/>
          </a:xfrm>
        </p:spPr>
        <p:txBody>
          <a:bodyPr anchor="ctr">
            <a:normAutofit/>
          </a:bodyPr>
          <a:lstStyle>
            <a:lvl1pPr algn="l">
              <a:defRPr sz="28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114800"/>
            <a:ext cx="6383552" cy="19050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0172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283" y="533400"/>
            <a:ext cx="6859787" cy="2895600"/>
          </a:xfrm>
        </p:spPr>
        <p:txBody>
          <a:bodyPr anchor="ctr">
            <a:normAutofit/>
          </a:bodyPr>
          <a:lstStyle>
            <a:lvl1pPr algn="l">
              <a:defRPr sz="2800" b="0" cap="all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66800" y="3429000"/>
            <a:ext cx="6402467" cy="4826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301070"/>
            <a:ext cx="6382361" cy="171873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28600" y="71062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6200" y="276860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074816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3429000"/>
            <a:ext cx="6382361" cy="1697400"/>
          </a:xfrm>
        </p:spPr>
        <p:txBody>
          <a:bodyPr anchor="b">
            <a:normAutofit/>
          </a:bodyPr>
          <a:lstStyle>
            <a:lvl1pPr algn="l">
              <a:defRPr sz="28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5132980"/>
            <a:ext cx="6383552" cy="886819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64882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284" y="533400"/>
            <a:ext cx="6859786" cy="2895600"/>
          </a:xfrm>
        </p:spPr>
        <p:txBody>
          <a:bodyPr anchor="ctr">
            <a:normAutofit/>
          </a:bodyPr>
          <a:lstStyle>
            <a:lvl1pPr algn="l">
              <a:defRPr sz="2800" b="0" cap="all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33400" y="3886200"/>
            <a:ext cx="638236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953000"/>
            <a:ext cx="6382360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28600" y="71062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6200" y="276860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233582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533400"/>
            <a:ext cx="7525658" cy="28956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2800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33400" y="3928534"/>
            <a:ext cx="6382361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766735"/>
            <a:ext cx="6382360" cy="1253065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5031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533401"/>
            <a:ext cx="6554867" cy="3767670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41272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66406" y="533400"/>
            <a:ext cx="2044194" cy="4419600"/>
          </a:xfrm>
        </p:spPr>
        <p:txBody>
          <a:bodyPr vert="eaVert">
            <a:normAutofit/>
          </a:bodyPr>
          <a:lstStyle>
            <a:lvl1pPr>
              <a:defRPr sz="2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533400"/>
            <a:ext cx="5850012" cy="5486400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2124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6670675" y="3894667"/>
            <a:ext cx="2470456" cy="2658533"/>
            <a:chOff x="6687077" y="3259666"/>
            <a:chExt cx="2981857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8756120" y="3259666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6687077" y="3486677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7772400" y="3581400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7923214" y="3433394"/>
              <a:ext cx="1739738" cy="173974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8398935" y="3985317"/>
              <a:ext cx="1264017" cy="126401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533401"/>
            <a:ext cx="6554867" cy="37676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30245" y="6172203"/>
            <a:ext cx="1200463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3400" y="6172200"/>
            <a:ext cx="5811724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74426" y="5578478"/>
            <a:ext cx="856907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28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51816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Credit Card Customer Behavior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Data-Driven Insight into Customer Spending Patterns and Risk Behavior</a:t>
            </a:r>
          </a:p>
          <a:p>
            <a:r>
              <a:t>Prepared by: Abubakar Shaibu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Project Objective &amp; 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• Objective: Understand customer purchase behaviors to improve retention and reduce churn.</a:t>
            </a:r>
          </a:p>
          <a:p>
            <a:r>
              <a:t>• Dataset: Credit card transaction dataset (Kaggle: arjunbhasin2013/ccdata).</a:t>
            </a:r>
          </a:p>
          <a:p>
            <a:r>
              <a:t>• Total records: 8,950 customers.</a:t>
            </a:r>
          </a:p>
          <a:p>
            <a:r>
              <a:t>• Key fields: BALANCE, PURCHASES, CASH_ADVANCE, CREDIT_LIMIT, PAYMENTS, TENURE.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Preparation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• Handled missing values using median imputation.</a:t>
            </a:r>
          </a:p>
          <a:p>
            <a:r>
              <a:t>• Normalized monetary columns for consistency.</a:t>
            </a:r>
          </a:p>
          <a:p>
            <a:r>
              <a:t>• Created derived features such as:</a:t>
            </a:r>
          </a:p>
          <a:p>
            <a:r>
              <a:t>   - Average Monthly Spend</a:t>
            </a:r>
          </a:p>
          <a:p>
            <a:r>
              <a:t>   - % of Installment vs One-Off Purchases</a:t>
            </a:r>
          </a:p>
          <a:p>
            <a:r>
              <a:t>   - Credit Utilization Rate</a:t>
            </a:r>
          </a:p>
          <a:p>
            <a:r>
              <a:t>• Segmented customers by Tenure, Spending Behavior, and Repayment Patterns.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Exploratory Data Analysis (EDA)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Identified highest vs lowest spenders.</a:t>
            </a:r>
          </a:p>
          <a:p>
            <a:r>
              <a:t>• Analyzed dominant purchase categories.</a:t>
            </a:r>
          </a:p>
          <a:p>
            <a:r>
              <a:t>• Examined spending vs repayment behavior across tenure.</a:t>
            </a:r>
          </a:p>
          <a:p>
            <a:r>
              <a:t>• Flagged heavy cash advance users (potential financial risk).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5083" y="5142082"/>
            <a:ext cx="6554867" cy="1524000"/>
          </a:xfrm>
        </p:spPr>
        <p:txBody>
          <a:bodyPr/>
          <a:lstStyle/>
          <a:p>
            <a:r>
              <a:rPr dirty="0"/>
              <a:t>Visualization Highlights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2516" y="240495"/>
            <a:ext cx="2957663" cy="228014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006" y="172554"/>
            <a:ext cx="2736985" cy="241602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1165" y="2777566"/>
            <a:ext cx="2907033" cy="236451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6600" y="2777566"/>
            <a:ext cx="2706701" cy="238966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Business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Top 20% of customers contribute to 60% of total purchases.</a:t>
            </a:r>
          </a:p>
          <a:p>
            <a:r>
              <a:t>• Cash advance customers have higher overdue risk and lower repayment ratios.</a:t>
            </a:r>
          </a:p>
          <a:p>
            <a:r>
              <a:t>• New customers (&lt;1 year tenure) spend less but show rapid growth trends.</a:t>
            </a:r>
          </a:p>
          <a:p>
            <a:r>
              <a:t>• Customers with high utilization (&gt;80%) tend to have more volatile balances.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Segment Profiles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High Spenders: Consistent monthly spend, high repayment rates.</a:t>
            </a:r>
          </a:p>
          <a:p>
            <a:r>
              <a:t>• Occasional Spenders: Irregular purchase patterns, moderate balances.</a:t>
            </a:r>
          </a:p>
          <a:p>
            <a:r>
              <a:t>• Cash-Advance Heavy Users: Low payments, high financial risk.</a:t>
            </a:r>
          </a:p>
          <a:p>
            <a:r>
              <a:t>• New Customers: Growing engagement, opportunity for loyalty programs.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Introduce loyalty campaigns for new and occasional spenders.</a:t>
            </a:r>
          </a:p>
          <a:p>
            <a:r>
              <a:t>• Offer lower interest or credit limit increase for high spenders with good repayment.</a:t>
            </a:r>
          </a:p>
          <a:p>
            <a:r>
              <a:t>• Monitor cash-advance heavy users with risk scoring models.</a:t>
            </a:r>
          </a:p>
          <a:p>
            <a:r>
              <a:t>• Personalize marketing based on segment behavior insights.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analysis provides data-driven insights to enhance customer retention, optimize campaigns,</a:t>
            </a:r>
          </a:p>
          <a:p>
            <a:r>
              <a:t>and manage credit risk effectively. Power BI dashboards support real-time exploration of key metrics,</a:t>
            </a:r>
          </a:p>
          <a:p>
            <a:r>
              <a:t>enabling informed strategic decisions.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3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2700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23</TotalTime>
  <Words>363</Words>
  <Application>Microsoft Office PowerPoint</Application>
  <PresentationFormat>On-screen Show (4:3)</PresentationFormat>
  <Paragraphs>41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Century Gothic</vt:lpstr>
      <vt:lpstr>Wingdings 3</vt:lpstr>
      <vt:lpstr>Slice</vt:lpstr>
      <vt:lpstr>Credit Card Customer Behavior Analysis</vt:lpstr>
      <vt:lpstr>Project Objective &amp; Dataset Overview</vt:lpstr>
      <vt:lpstr>Data Preparation Steps</vt:lpstr>
      <vt:lpstr>Exploratory Data Analysis (EDA)</vt:lpstr>
      <vt:lpstr>Visualization Highlights</vt:lpstr>
      <vt:lpstr>Key Business Insights</vt:lpstr>
      <vt:lpstr>Customer Segment Profiles</vt:lpstr>
      <vt:lpstr>Business Recommendations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Credit Card Customer Behavior Analysis</dc:title>
  <dc:subject/>
  <dc:creator/>
  <cp:keywords/>
  <dc:description>generated using python-pptx</dc:description>
  <cp:lastModifiedBy>USER</cp:lastModifiedBy>
  <cp:revision>3</cp:revision>
  <dcterms:created xsi:type="dcterms:W3CDTF">2013-01-27T09:14:16Z</dcterms:created>
  <dcterms:modified xsi:type="dcterms:W3CDTF">2025-10-11T14:30:00Z</dcterms:modified>
  <cp:category/>
</cp:coreProperties>
</file>